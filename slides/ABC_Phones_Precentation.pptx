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Delinquency %</c:v>
                </c:pt>
              </c:strCache>
            </c:strRef>
          </c:tx>
          <c:spPr>
            <a:solidFill>
              <a:srgbClr val="1A1A2E"/>
            </a:solidFill>
            <a:ln w="25400" cap="flat">
              <a:solidFill>
                <a:srgbClr val="1A1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1A2E"/>
              </a:solidFill>
              <a:ln w="9525" cap="flat">
                <a:solidFill>
                  <a:srgbClr val="1A1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Mar</c:v>
                  </c:pt>
                  <c:pt idx="2">
                    <c:v>Apr</c:v>
                  </c:pt>
                  <c:pt idx="3">
                    <c:v>Jul</c:v>
                  </c:pt>
                  <c:pt idx="4">
                    <c:v>Sep</c:v>
                  </c:pt>
                  <c:pt idx="5">
                    <c:v>Dec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41.9</c:v>
                </c:pt>
                <c:pt idx="1">
                  <c:v>43.5</c:v>
                </c:pt>
                <c:pt idx="2">
                  <c:v>43.1</c:v>
                </c:pt>
                <c:pt idx="3">
                  <c:v>44.2</c:v>
                </c:pt>
                <c:pt idx="4">
                  <c:v>44.7</c:v>
                </c:pt>
                <c:pt idx="5">
                  <c:v>45.3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Write-off %</c:v>
                </c:pt>
              </c:strCache>
            </c:strRef>
          </c:tx>
          <c:spPr>
            <a:solidFill>
              <a:srgbClr val="6B7280"/>
            </a:solidFill>
            <a:ln w="25400" cap="flat">
              <a:solidFill>
                <a:srgbClr val="6B72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7280"/>
              </a:solidFill>
              <a:ln w="9525" cap="flat">
                <a:solidFill>
                  <a:srgbClr val="6B72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Mar</c:v>
                  </c:pt>
                  <c:pt idx="2">
                    <c:v>Apr</c:v>
                  </c:pt>
                  <c:pt idx="3">
                    <c:v>Jul</c:v>
                  </c:pt>
                  <c:pt idx="4">
                    <c:v>Sep</c:v>
                  </c:pt>
                  <c:pt idx="5">
                    <c:v>Dec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13.5</c:v>
                </c:pt>
                <c:pt idx="1">
                  <c:v>15.2</c:v>
                </c:pt>
                <c:pt idx="2">
                  <c:v>14.8</c:v>
                </c:pt>
                <c:pt idx="3">
                  <c:v>16.1</c:v>
                </c:pt>
                <c:pt idx="4">
                  <c:v>17</c:v>
                </c:pt>
                <c:pt idx="5">
                  <c:v>17.7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NPS</c:v>
                </c:pt>
              </c:strCache>
            </c:strRef>
          </c:tx>
          <c:spPr>
            <a:solidFill>
              <a:srgbClr val="1A1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1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1A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1A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1A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 risk</c:v>
                  </c:pt>
                  <c:pt idx="1">
                    <c:v>Medium risk</c:v>
                  </c:pt>
                  <c:pt idx="2">
                    <c:v>High risk</c:v>
                  </c:pt>
                  <c:pt idx="3">
                    <c:v>Critical risk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7.1</c:v>
                </c:pt>
                <c:pt idx="1">
                  <c:v>6.8</c:v>
                </c:pt>
                <c:pt idx="2">
                  <c:v>6.2</c:v>
                </c:pt>
                <c:pt idx="3">
                  <c:v>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 Phones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Analytics Case Study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16459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 ·  Data Quality  ·  Portfolio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Pandera  ·  PostgreSQL  ·  Docker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ETL Pipeline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 from source to insight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5623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2185416"/>
            <a:ext cx="1600200" cy="1371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331720"/>
            <a:ext cx="16550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credit CSVs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+ NPS Excel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(monthly loads)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68296" y="2606040"/>
            <a:ext cx="155448" cy="0"/>
          </a:xfrm>
          <a:prstGeom prst="line">
            <a:avLst/>
          </a:prstGeom>
          <a:noFill/>
          <a:ln w="1524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24048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60320" y="169164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85623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2185416"/>
            <a:ext cx="1600200" cy="1371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0048" y="2331720"/>
            <a:ext cx="16550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Pandera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71416" y="2606040"/>
            <a:ext cx="155448" cy="0"/>
          </a:xfrm>
          <a:prstGeom prst="line">
            <a:avLst/>
          </a:prstGeom>
          <a:noFill/>
          <a:ln w="1524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984" y="24048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85623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185416"/>
            <a:ext cx="1600200" cy="1371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331720"/>
            <a:ext cx="16550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standardize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DQ checks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74536" y="2606040"/>
            <a:ext cx="155448" cy="0"/>
          </a:xfrm>
          <a:prstGeom prst="line">
            <a:avLst/>
          </a:prstGeom>
          <a:noFill/>
          <a:ln w="15240">
            <a:solidFill>
              <a:srgbClr val="1A1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47104" y="24048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766560" y="169164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85623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2185416"/>
            <a:ext cx="1600200" cy="1371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2331720"/>
            <a:ext cx="16550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by 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CSV exports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load strategy — no CDC markers in source systems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Engineering Decisions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choices that shaped the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4996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strategy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49961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load for all sources — credit snapshots are point-in-time, sales has no CDC markers, NPS refreshes monthly.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8046720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075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standardisation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07568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standardize_columns() runs on every load: lowercase, underscores, consistent across all three datasets.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8046720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33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column detection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65176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Unnamed: 28 appeared in Jun/Sep/Dec snapshots. Pandera schema validation auto-detects and alerts on column drift.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36392"/>
            <a:ext cx="8046720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227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 timezone handling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322783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timezones parsed with utc=True then made tz-naive. Age is calculated relative to each snapshot date.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12464"/>
            <a:ext cx="8046720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8039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strategy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6080" y="3803904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+ DOB → customer master (5.4% match rate). Gender/Income NaN loan IDs excluded. NPS joins on loan_id directly.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88536"/>
            <a:ext cx="8046720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361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3799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design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437997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partitioned by snapshot_date across raw → staging → analytics schemas. CSV exports for stakeholders.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checks, one real example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0" y="14173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852160" y="14173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16459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5564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7556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snapshots expected — alerts if any are missing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17556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1755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batch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139696"/>
            <a:ext cx="804672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8541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18541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(loan_id, date) pairs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218541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218541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569464"/>
            <a:ext cx="804672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1518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261518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loan_ids must exist in customer master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261518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261518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999232"/>
            <a:ext cx="804672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04495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/ plausibility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30449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18–120, balance ≥ 0 and other bounds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2160" y="304495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30449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429000"/>
            <a:ext cx="804672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4747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thresholds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0" y="34747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nulls per column kept within defined tolerance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3474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3474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22452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31596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 unnamed column appeared in three snapshots (Jun, Sep, Dec). Pandera caught the mismatch, fired a webhook to Slack and PagerDuty, and escalated to the Data Engineer → Lead → Head of Data until resolved.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Health — Key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across 5 monthly snapshots, Jan – Dec 2025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41.9% → 45.3%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848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rate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1554480"/>
            <a:ext cx="11887" cy="7315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33472" y="15087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13.5% → 17.7%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33472" y="20848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Write-off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90872" y="1554480"/>
            <a:ext cx="11887" cy="7315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5087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75.4% → 72.7%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0848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67144" y="1554480"/>
            <a:ext cx="11887" cy="7315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86016" y="15087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 → 273 days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86016" y="20848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past due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423160"/>
            <a:ext cx="8046720" cy="1371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16" name="Chart 0" descr=""/>
          <p:cNvGraphicFramePr/>
          <p:nvPr/>
        </p:nvGraphicFramePr>
        <p:xfrm>
          <a:off x="457200" y="2560320"/>
          <a:ext cx="82296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Carries the Risk?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 varies significantly across age and income bands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age band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18–25 years old:  22.4% Critical  (highest of any group)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years old:  18.1% Critical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249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36–45 years old:  15.9% Critical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1638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46–55 years old:  12.6% Critical  (lowest)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6027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years old:    13.8% Critical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13716" cy="34290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81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income band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8470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5,000:    27.3% Critical  (highest)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286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5,000–15,000:  21.4% Critical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7249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15,000–50,000: 18.0% Critical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31638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50,000–150K:   15.6% Critical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36027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150,000+:       14.4% Critical  (lowest)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8046720" cy="1371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622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and lower-income customers carry disproportionately more risk. Recommendation: stricter initial credit limits for the 18–25 cohort.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Risk and Customer Satisfaction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arrears score lower — but fair collections preserve NPS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47548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394960" y="1508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5.3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629400" y="16184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for critical risk customers (Detractors)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94960" y="258775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7.1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62940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for low risk customers (Passive)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94960" y="3666744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629400" y="377647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when 365+ days past due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94960" y="431596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received &gt;100% collection rate still averaged NPS 7.1 — respectful, proactive engagement preserves satisfaction.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change and what data we'd add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Launch a Payment Difficulty programme for customers who enter arrears at 7–30 days DPD — proactive outreach before accounts reach 90 days.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Split collections into two tracks: a soft customer-success track for early-stage accounts, and a hard legal track only for late-stage.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Apply stricter initial credit limits to the 18–25 cohort, given their 22% critical risk rate.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13716" cy="34290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4813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we wish we had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8745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Standardise loan_id naming across all systems with foreign key constraints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24963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Replace the four ad-hoc income columns with a structured (loan_id, income_type, amount, verified_date) 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311810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Add a controlled vocabulary for account_status_l1 with defined transition rules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3739896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Include region/city for geographic concentration risk monitoring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436168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Track device return reason codes for loss-given-default modelling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28016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9202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9202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ETL pipeline processing 71K+ credit records across 5 snapshots.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39572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5 data quality checks with Pandera schema validation and webhook alerting.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7121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87121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has risen to 45.3% with write-offs reaching 17.7% — the portfolio is under pressure.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4670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34670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18–25 age band and sub-5K income bracket carry the highest critical risk.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2219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8221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clear inverse relationship between credit risk and NPS — but fair collections protect it.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early intervention at 7–30 days DPD, two-track collections, stricter young-cohort limits.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 Phones — Data Engineering Case Study</dc:title>
  <dc:subject>PptxGenJS Presentation</dc:subject>
  <dc:creator>PptxGenJS</dc:creator>
  <cp:lastModifiedBy>PptxGenJS</cp:lastModifiedBy>
  <cp:revision>1</cp:revision>
  <dcterms:created xsi:type="dcterms:W3CDTF">2026-05-09T08:42:02Z</dcterms:created>
  <dcterms:modified xsi:type="dcterms:W3CDTF">2026-05-09T08:42:02Z</dcterms:modified>
</cp:coreProperties>
</file>